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6" r:id="rId11"/>
    <p:sldId id="265" r:id="rId12"/>
    <p:sldId id="268" r:id="rId13"/>
    <p:sldId id="267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84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68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172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62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95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809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200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872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545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660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575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A1DCFF-EF87-492D-AC23-3F82EFF59252}" type="datetimeFigureOut">
              <a:rPr lang="en-US" smtClean="0"/>
              <a:t>4/18/2016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2B54C-F6FE-47C0-AE9A-5DC7BB859C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581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PITTSBURGH BIKE SHARE</a:t>
            </a:r>
          </a:p>
          <a:p>
            <a:r>
              <a:rPr lang="en-US" dirty="0"/>
              <a:t>(Ayush Mishra, </a:t>
            </a:r>
            <a:r>
              <a:rPr lang="en-US" dirty="0" err="1"/>
              <a:t>Junwei</a:t>
            </a:r>
            <a:r>
              <a:rPr lang="en-US" dirty="0"/>
              <a:t> </a:t>
            </a:r>
            <a:r>
              <a:rPr lang="en-US" dirty="0" err="1"/>
              <a:t>Zhuge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31144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Pittsburgh’s Q3 and Q4 Bike Sharing Data.</a:t>
            </a:r>
          </a:p>
          <a:p>
            <a:endParaRPr lang="en-US" dirty="0"/>
          </a:p>
          <a:p>
            <a:r>
              <a:rPr lang="en-US" dirty="0"/>
              <a:t>From the given data, create learning models</a:t>
            </a:r>
          </a:p>
          <a:p>
            <a:endParaRPr lang="en-US" dirty="0"/>
          </a:p>
          <a:p>
            <a:r>
              <a:rPr lang="en-US" dirty="0"/>
              <a:t>Use these learned models to predict new data</a:t>
            </a:r>
          </a:p>
          <a:p>
            <a:endParaRPr lang="en-US" dirty="0"/>
          </a:p>
          <a:p>
            <a:r>
              <a:rPr lang="en-US" dirty="0"/>
              <a:t>What needs to be done?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6946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 the hourly “Counts” for all stations for the last 10 days of every month in Q3 and Q4.</a:t>
            </a:r>
          </a:p>
          <a:p>
            <a:endParaRPr lang="en-US" dirty="0"/>
          </a:p>
          <a:p>
            <a:r>
              <a:rPr lang="en-US" dirty="0"/>
              <a:t>The “Count” will be our response variable.</a:t>
            </a:r>
          </a:p>
          <a:p>
            <a:endParaRPr lang="en-US" dirty="0"/>
          </a:p>
          <a:p>
            <a:r>
              <a:rPr lang="en-US" dirty="0"/>
              <a:t>What it helps ultimately achieve?</a:t>
            </a:r>
          </a:p>
          <a:p>
            <a:endParaRPr lang="en-US" dirty="0"/>
          </a:p>
          <a:p>
            <a:r>
              <a:rPr lang="en-US" dirty="0"/>
              <a:t>The “re-balancing” problem</a:t>
            </a:r>
          </a:p>
        </p:txBody>
      </p:sp>
    </p:spTree>
    <p:extLst>
      <p:ext uri="{BB962C8B-B14F-4D97-AF65-F5344CB8AC3E}">
        <p14:creationId xmlns:p14="http://schemas.microsoft.com/office/powerpoint/2010/main" val="4100369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Pre-Processing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Prepping the data before analysis</a:t>
            </a:r>
          </a:p>
        </p:txBody>
      </p:sp>
    </p:spTree>
    <p:extLst>
      <p:ext uri="{BB962C8B-B14F-4D97-AF65-F5344CB8AC3E}">
        <p14:creationId xmlns:p14="http://schemas.microsoft.com/office/powerpoint/2010/main" val="416429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Bike trips by the hour                                                                                  (</a:t>
            </a:r>
            <a:r>
              <a:rPr lang="en-US" dirty="0" err="1"/>
              <a:t>fastigium</a:t>
            </a:r>
            <a:r>
              <a:rPr lang="en-US" dirty="0"/>
              <a:t> within 8-20hrs)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Bike trips by the day                                                                                   (not much variance on a daily basis)</a:t>
            </a:r>
          </a:p>
          <a:p>
            <a:endParaRPr lang="en-US" dirty="0"/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040" y="1027906"/>
            <a:ext cx="2560320" cy="2689860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460" y="3717766"/>
            <a:ext cx="25019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2083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Bike trips by the Month                                                                                 (Constant decrease towards the end of year)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Bike trips by User Type                                                                                   (Mostly User types 1 and 2)</a:t>
            </a:r>
          </a:p>
          <a:p>
            <a:endParaRPr lang="en-US" dirty="0"/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36" y="1171404"/>
            <a:ext cx="2423160" cy="2545715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1996" y="3717119"/>
            <a:ext cx="2552700" cy="2681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104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the plots, we choose the numerical predictors:</a:t>
            </a:r>
          </a:p>
          <a:p>
            <a:pPr lvl="1"/>
            <a:r>
              <a:rPr lang="en-US" dirty="0"/>
              <a:t>“Month”, “Day”, “Hour”</a:t>
            </a:r>
          </a:p>
          <a:p>
            <a:pPr lvl="1"/>
            <a:r>
              <a:rPr lang="en-US" dirty="0"/>
              <a:t>“Hour” variable separated into the start and stop hours.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Apart from this, we have categorical predictors:</a:t>
            </a:r>
          </a:p>
          <a:p>
            <a:pPr lvl="1"/>
            <a:r>
              <a:rPr lang="en-US" dirty="0"/>
              <a:t>“Station ID”, “Rack Quantity”</a:t>
            </a:r>
          </a:p>
          <a:p>
            <a:pPr lvl="1"/>
            <a:r>
              <a:rPr lang="en-US" dirty="0"/>
              <a:t>User Type does not account for this problem since we are simply concerned with the counts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What’s the importance?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775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predictors are surely important in building the models.</a:t>
            </a:r>
          </a:p>
          <a:p>
            <a:r>
              <a:rPr lang="en-US" dirty="0"/>
              <a:t>But, what are we predicting here?</a:t>
            </a:r>
          </a:p>
          <a:p>
            <a:r>
              <a:rPr lang="en-US" dirty="0"/>
              <a:t>The “response” variable – “COUNT” (as mentioned in the initial slides)</a:t>
            </a:r>
          </a:p>
          <a:p>
            <a:r>
              <a:rPr lang="en-US" dirty="0"/>
              <a:t>This is procured by creating Group Counts.</a:t>
            </a:r>
          </a:p>
          <a:p>
            <a:pPr lvl="1"/>
            <a:r>
              <a:rPr lang="en-US" dirty="0"/>
              <a:t>To do this, we separated the data into Start Counts which were formed by combining:</a:t>
            </a:r>
          </a:p>
          <a:p>
            <a:pPr lvl="2"/>
            <a:r>
              <a:rPr lang="en-US" dirty="0"/>
              <a:t>“Start Station ID”, “Month”, “Day”, “Start Hour”, “Start Rack Quantity”</a:t>
            </a:r>
          </a:p>
          <a:p>
            <a:pPr lvl="2"/>
            <a:r>
              <a:rPr lang="en-US" dirty="0"/>
              <a:t>We get Start Counts</a:t>
            </a:r>
          </a:p>
          <a:p>
            <a:pPr lvl="1"/>
            <a:r>
              <a:rPr lang="en-US" dirty="0"/>
              <a:t>We also separated the data into Stop Counts which were formed by combining:</a:t>
            </a:r>
          </a:p>
          <a:p>
            <a:pPr lvl="2"/>
            <a:r>
              <a:rPr lang="en-US" dirty="0"/>
              <a:t>“Stop Station ID”, “Month”, “Day”, “Stop Hour”, “Stop Rack Quantity”</a:t>
            </a:r>
          </a:p>
          <a:p>
            <a:pPr lvl="2"/>
            <a:r>
              <a:rPr lang="en-US" dirty="0"/>
              <a:t>We get Stop Counts</a:t>
            </a:r>
          </a:p>
        </p:txBody>
      </p:sp>
    </p:spTree>
    <p:extLst>
      <p:ext uri="{BB962C8B-B14F-4D97-AF65-F5344CB8AC3E}">
        <p14:creationId xmlns:p14="http://schemas.microsoft.com/office/powerpoint/2010/main" val="793260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Variable (contd..)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are interested in getting the cumulative counts of bikes “rented out” as opposed to bikes “deposited in” each hour.</a:t>
            </a:r>
          </a:p>
          <a:p>
            <a:r>
              <a:rPr lang="en-US" dirty="0"/>
              <a:t>This gives us the total bike flow each hour</a:t>
            </a:r>
          </a:p>
          <a:p>
            <a:r>
              <a:rPr lang="en-US" dirty="0"/>
              <a:t>We derive this final count by combining the Start and Stop Counts data by merging based on “Start Station ID” and “Stop Station ID”</a:t>
            </a:r>
          </a:p>
          <a:p>
            <a:r>
              <a:rPr lang="en-US" dirty="0"/>
              <a:t>Finally, we subtract the “Start Counts” at every station every hour from “Stop Counts” at every station every hour. This gives us residual counts of bikes every hour.</a:t>
            </a:r>
          </a:p>
          <a:p>
            <a:r>
              <a:rPr lang="en-US" dirty="0"/>
              <a:t>A positive number means -&gt; bikes “brought in”</a:t>
            </a:r>
          </a:p>
          <a:p>
            <a:r>
              <a:rPr lang="en-US" dirty="0"/>
              <a:t>Negative Number -&gt; bikes “rented out”</a:t>
            </a:r>
          </a:p>
          <a:p>
            <a:r>
              <a:rPr lang="en-US" dirty="0"/>
              <a:t>A zero value means inflow of bikes is equal to outflow in that hour.</a:t>
            </a:r>
          </a:p>
        </p:txBody>
      </p:sp>
    </p:spTree>
    <p:extLst>
      <p:ext uri="{BB962C8B-B14F-4D97-AF65-F5344CB8AC3E}">
        <p14:creationId xmlns:p14="http://schemas.microsoft.com/office/powerpoint/2010/main" val="913472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Variable (contd..)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off-shoot approach is to discount the “days” and reduce the categorization to “weekdays” and “weekends”. </a:t>
            </a:r>
          </a:p>
          <a:p>
            <a:r>
              <a:rPr lang="en-US" dirty="0"/>
              <a:t>This helps in reducing the sparsity of our counts matrix.</a:t>
            </a:r>
          </a:p>
          <a:p>
            <a:r>
              <a:rPr lang="en-US" dirty="0"/>
              <a:t>Another more viable approach: reduce the training list to “10000” rows.</a:t>
            </a:r>
          </a:p>
          <a:p>
            <a:r>
              <a:rPr lang="en-US" dirty="0"/>
              <a:t>These rows are the result of binding head(5000) and tail(5000) of a descending ordered list of original training data.</a:t>
            </a:r>
          </a:p>
          <a:p>
            <a:r>
              <a:rPr lang="en-US" dirty="0"/>
              <a:t>The testing data is then divided into chunks of 10000 rows for applying the trained model.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856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Testing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 order to finally build the models, we need to separate the data in training and testing sets. </a:t>
            </a:r>
          </a:p>
          <a:p>
            <a:endParaRPr lang="en-US" dirty="0"/>
          </a:p>
          <a:p>
            <a:r>
              <a:rPr lang="en-US" dirty="0"/>
              <a:t>The problem requirement states that the data be divided into two sets -&gt; the first 20 days of a month and the rest of the days.</a:t>
            </a:r>
          </a:p>
          <a:p>
            <a:endParaRPr lang="en-US" dirty="0"/>
          </a:p>
          <a:p>
            <a:r>
              <a:rPr lang="en-US" dirty="0"/>
              <a:t>The first set acts as our training set (first 20 days of every month)</a:t>
            </a:r>
          </a:p>
          <a:p>
            <a:pPr lvl="1"/>
            <a:r>
              <a:rPr lang="en-US" dirty="0"/>
              <a:t>The chunking as explained earlier is performed on this set</a:t>
            </a:r>
          </a:p>
          <a:p>
            <a:r>
              <a:rPr lang="en-US" dirty="0"/>
              <a:t>The second set acts as our test set (The rest of the data)</a:t>
            </a:r>
          </a:p>
          <a:p>
            <a:pPr lvl="1"/>
            <a:r>
              <a:rPr lang="en-US" dirty="0"/>
              <a:t>This is stripped off the response variable and chunked into sets of 10000 rows to run the prediction models on.</a:t>
            </a:r>
          </a:p>
        </p:txBody>
      </p:sp>
    </p:spTree>
    <p:extLst>
      <p:ext uri="{BB962C8B-B14F-4D97-AF65-F5344CB8AC3E}">
        <p14:creationId xmlns:p14="http://schemas.microsoft.com/office/powerpoint/2010/main" val="368626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True Positives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Since we don’t have a very efficient way to exactly determine the specific counts, we use a novel idea to improve accuracy of predictions.</a:t>
            </a:r>
          </a:p>
          <a:p>
            <a:r>
              <a:rPr lang="en-US" dirty="0"/>
              <a:t>We define the true positives to be a range of values.</a:t>
            </a:r>
          </a:p>
          <a:p>
            <a:r>
              <a:rPr lang="en-US" dirty="0"/>
              <a:t>Earlier, TP &lt;- result == actual</a:t>
            </a:r>
          </a:p>
          <a:p>
            <a:r>
              <a:rPr lang="en-US" dirty="0"/>
              <a:t>Using the new idea, TP &lt;- (result &gt;= (actual -2)) &amp;&amp; (result &lt;= (actual +2)) </a:t>
            </a:r>
          </a:p>
          <a:p>
            <a:r>
              <a:rPr lang="en-US" dirty="0"/>
              <a:t>This considerably brings up the accuracy</a:t>
            </a:r>
          </a:p>
          <a:p>
            <a:r>
              <a:rPr lang="en-US" dirty="0"/>
              <a:t>It also helps in better estimation of the number of bikes at a given station on a given day at a given time since we estimate more than the actual value.</a:t>
            </a:r>
          </a:p>
        </p:txBody>
      </p:sp>
    </p:spTree>
    <p:extLst>
      <p:ext uri="{BB962C8B-B14F-4D97-AF65-F5344CB8AC3E}">
        <p14:creationId xmlns:p14="http://schemas.microsoft.com/office/powerpoint/2010/main" val="1938427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regression</a:t>
            </a:r>
          </a:p>
          <a:p>
            <a:pPr lvl="1"/>
            <a:r>
              <a:rPr lang="en-US" dirty="0"/>
              <a:t>This model returns the most basic regression results.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The variables are all of first order:</a:t>
            </a:r>
          </a:p>
          <a:p>
            <a:pPr lvl="2"/>
            <a:r>
              <a:rPr lang="en-US" dirty="0"/>
              <a:t>lm(</a:t>
            </a:r>
            <a:r>
              <a:rPr lang="en-US" dirty="0" err="1"/>
              <a:t>y~StationId+Month+Day+StartHour+StopHour,data</a:t>
            </a:r>
            <a:r>
              <a:rPr lang="en-US" dirty="0"/>
              <a:t> = training)</a:t>
            </a:r>
          </a:p>
          <a:p>
            <a:pPr marL="1371600" lvl="3" indent="0">
              <a:buNone/>
            </a:pPr>
            <a:endParaRPr lang="en-US" dirty="0"/>
          </a:p>
          <a:p>
            <a:pPr lvl="1"/>
            <a:r>
              <a:rPr lang="en-US" dirty="0"/>
              <a:t>Based on the True Positives from the previous slide, final predictions give us an accuracy of:</a:t>
            </a:r>
          </a:p>
          <a:p>
            <a:pPr lvl="2"/>
            <a:r>
              <a:rPr lang="en-US" dirty="0"/>
              <a:t>78.58% 	</a:t>
            </a:r>
          </a:p>
          <a:p>
            <a:pPr lvl="1"/>
            <a:r>
              <a:rPr lang="en-US" dirty="0"/>
              <a:t>It works as our baseline for prediction</a:t>
            </a:r>
          </a:p>
        </p:txBody>
      </p:sp>
    </p:spTree>
    <p:extLst>
      <p:ext uri="{BB962C8B-B14F-4D97-AF65-F5344CB8AC3E}">
        <p14:creationId xmlns:p14="http://schemas.microsoft.com/office/powerpoint/2010/main" val="2110297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(contd..)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Polynomial regression</a:t>
            </a:r>
          </a:p>
          <a:p>
            <a:pPr lvl="1"/>
            <a:r>
              <a:rPr lang="en-US" dirty="0"/>
              <a:t>This model provides a slightly lower performing fit in data with 2</a:t>
            </a:r>
            <a:r>
              <a:rPr lang="en-US" baseline="30000" dirty="0"/>
              <a:t>nd</a:t>
            </a:r>
            <a:r>
              <a:rPr lang="en-US" dirty="0"/>
              <a:t> order variables in addition to what we had in the linear regression model.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The variables are of first as well as second order:</a:t>
            </a:r>
          </a:p>
          <a:p>
            <a:pPr lvl="2"/>
            <a:r>
              <a:rPr lang="en-US" dirty="0"/>
              <a:t>lm(</a:t>
            </a:r>
            <a:r>
              <a:rPr lang="en-US" dirty="0" err="1"/>
              <a:t>y~StationId+Month+Day+StartHour+StopHour+I</a:t>
            </a:r>
            <a:r>
              <a:rPr lang="en-US" dirty="0"/>
              <a:t>(Month^2)+I(Day^2)+I(StartHour^2)+I(StopHour^2),data = training)</a:t>
            </a:r>
          </a:p>
          <a:p>
            <a:pPr lvl="1"/>
            <a:r>
              <a:rPr lang="en-US" dirty="0"/>
              <a:t>Based on the True Positives from the previous slide, final predictions give us an accuracy of:</a:t>
            </a:r>
          </a:p>
          <a:p>
            <a:pPr lvl="2"/>
            <a:r>
              <a:rPr lang="en-US" dirty="0"/>
              <a:t>73.08%	</a:t>
            </a:r>
          </a:p>
          <a:p>
            <a:pPr lvl="1"/>
            <a:r>
              <a:rPr lang="en-US" dirty="0"/>
              <a:t>This gives us a decrease in accuracy of 5.5% as compared to our linear baseline.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4113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(contd..)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Polynomial regression</a:t>
            </a:r>
          </a:p>
          <a:p>
            <a:pPr lvl="1"/>
            <a:r>
              <a:rPr lang="en-US" dirty="0"/>
              <a:t>This model’s performance decreases drastically as compared to the other two models.</a:t>
            </a:r>
          </a:p>
          <a:p>
            <a:pPr lvl="1"/>
            <a:r>
              <a:rPr lang="en-US" dirty="0"/>
              <a:t>The variables are </a:t>
            </a:r>
            <a:r>
              <a:rPr lang="en-US" dirty="0" err="1"/>
              <a:t>upto</a:t>
            </a:r>
            <a:r>
              <a:rPr lang="en-US" dirty="0"/>
              <a:t> the 3</a:t>
            </a:r>
            <a:r>
              <a:rPr lang="en-US" baseline="30000" dirty="0"/>
              <a:t>rd</a:t>
            </a:r>
            <a:r>
              <a:rPr lang="en-US" dirty="0"/>
              <a:t> order:</a:t>
            </a:r>
          </a:p>
          <a:p>
            <a:pPr lvl="2"/>
            <a:r>
              <a:rPr lang="en-US" dirty="0"/>
              <a:t>lm(</a:t>
            </a:r>
            <a:r>
              <a:rPr lang="en-US" dirty="0" err="1"/>
              <a:t>y~StationId+Month+Day+StartHour+StopHour+I</a:t>
            </a:r>
            <a:r>
              <a:rPr lang="en-US" dirty="0"/>
              <a:t>(Month^2)+I(Day^2)+I(StartHour^2)+I(StopHour^2)+I(Month^3)+I(Day^3)+I(StartHour^3)+I(StopHour^3),data = training)</a:t>
            </a:r>
          </a:p>
          <a:p>
            <a:pPr lvl="1"/>
            <a:r>
              <a:rPr lang="en-US" dirty="0"/>
              <a:t>Based on the True Positives from the previous slide, final predictions give us an accuracy of:</a:t>
            </a:r>
          </a:p>
          <a:p>
            <a:pPr lvl="2"/>
            <a:r>
              <a:rPr lang="en-US" dirty="0"/>
              <a:t>42.03%	</a:t>
            </a:r>
          </a:p>
          <a:p>
            <a:pPr lvl="1"/>
            <a:r>
              <a:rPr lang="en-US" dirty="0"/>
              <a:t>This drastic drop in accuracy renders further use of nonlinear models unusable.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986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533</TotalTime>
  <Words>974</Words>
  <Application>Microsoft Office PowerPoint</Application>
  <PresentationFormat>Widescreen</PresentationFormat>
  <Paragraphs>113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Introduction</vt:lpstr>
      <vt:lpstr>Problem</vt:lpstr>
      <vt:lpstr>Goal </vt:lpstr>
      <vt:lpstr>Pre-Processing</vt:lpstr>
      <vt:lpstr>Plots</vt:lpstr>
      <vt:lpstr>Plots</vt:lpstr>
      <vt:lpstr>Predictors</vt:lpstr>
      <vt:lpstr>Response Variable</vt:lpstr>
      <vt:lpstr>Response Variable (contd..)</vt:lpstr>
      <vt:lpstr>Response Variable (contd..)</vt:lpstr>
      <vt:lpstr>Training &amp; Testing Sets</vt:lpstr>
      <vt:lpstr>True Positives</vt:lpstr>
      <vt:lpstr>Models</vt:lpstr>
      <vt:lpstr>Models (contd..)</vt:lpstr>
      <vt:lpstr>Models (contd..)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Ayush Mishra</dc:creator>
  <cp:lastModifiedBy>Ayush Mishra</cp:lastModifiedBy>
  <cp:revision>21</cp:revision>
  <dcterms:created xsi:type="dcterms:W3CDTF">2016-04-18T15:34:32Z</dcterms:created>
  <dcterms:modified xsi:type="dcterms:W3CDTF">2016-04-19T00:27:48Z</dcterms:modified>
</cp:coreProperties>
</file>